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7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6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0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3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0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1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5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4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8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7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9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96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23" r:id="rId6"/>
    <p:sldLayoutId id="2147483719" r:id="rId7"/>
    <p:sldLayoutId id="2147483720" r:id="rId8"/>
    <p:sldLayoutId id="2147483721" r:id="rId9"/>
    <p:sldLayoutId id="2147483722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26796024-DF17-4BB3-BF28-01E168A3C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3661" y="63892"/>
            <a:ext cx="2222198" cy="2133710"/>
          </a:xfrm>
          <a:custGeom>
            <a:avLst/>
            <a:gdLst>
              <a:gd name="connsiteX0" fmla="*/ 0 w 2222198"/>
              <a:gd name="connsiteY0" fmla="*/ 0 h 2133710"/>
              <a:gd name="connsiteX1" fmla="*/ 44227 w 2222198"/>
              <a:gd name="connsiteY1" fmla="*/ 2234 h 2133710"/>
              <a:gd name="connsiteX2" fmla="*/ 2193454 w 2222198"/>
              <a:gd name="connsiteY2" fmla="*/ 1945372 h 2133710"/>
              <a:gd name="connsiteX3" fmla="*/ 2222198 w 2222198"/>
              <a:gd name="connsiteY3" fmla="*/ 2133710 h 2133710"/>
              <a:gd name="connsiteX4" fmla="*/ 1394653 w 2222198"/>
              <a:gd name="connsiteY4" fmla="*/ 2133710 h 2133710"/>
              <a:gd name="connsiteX5" fmla="*/ 1391100 w 2222198"/>
              <a:gd name="connsiteY5" fmla="*/ 2110427 h 2133710"/>
              <a:gd name="connsiteX6" fmla="*/ 122376 w 2222198"/>
              <a:gd name="connsiteY6" fmla="*/ 841704 h 2133710"/>
              <a:gd name="connsiteX7" fmla="*/ 0 w 2222198"/>
              <a:gd name="connsiteY7" fmla="*/ 823027 h 213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8" h="2133710">
                <a:moveTo>
                  <a:pt x="0" y="0"/>
                </a:moveTo>
                <a:lnTo>
                  <a:pt x="44227" y="2234"/>
                </a:lnTo>
                <a:cubicBezTo>
                  <a:pt x="1114682" y="110944"/>
                  <a:pt x="1981368" y="908934"/>
                  <a:pt x="2193454" y="1945372"/>
                </a:cubicBezTo>
                <a:lnTo>
                  <a:pt x="2222198" y="2133710"/>
                </a:lnTo>
                <a:lnTo>
                  <a:pt x="1394653" y="2133710"/>
                </a:lnTo>
                <a:lnTo>
                  <a:pt x="1391100" y="2110427"/>
                </a:lnTo>
                <a:cubicBezTo>
                  <a:pt x="1260786" y="1473602"/>
                  <a:pt x="759202" y="972017"/>
                  <a:pt x="122376" y="841704"/>
                </a:cubicBezTo>
                <a:lnTo>
                  <a:pt x="0" y="8230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Right Triangle 90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25B443A3-71DE-567E-7E43-CAB8358E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725467"/>
            <a:ext cx="5414255" cy="27844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2">
                    <a:alpha val="80000"/>
                  </a:schemeClr>
                </a:solidFill>
              </a:rPr>
              <a:t>Emotion Driven Text-to-Speech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2C9C38-6E88-3FAF-8B16-F0B0905F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2" r="15396"/>
          <a:stretch>
            <a:fillRect/>
          </a:stretch>
        </p:blipFill>
        <p:spPr>
          <a:xfrm>
            <a:off x="6189156" y="-3440"/>
            <a:ext cx="6015813" cy="68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0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67F4-1DA8-9704-8389-F8EB0616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</p:spPr>
        <p:txBody>
          <a:bodyPr/>
          <a:lstStyle/>
          <a:p>
            <a:r>
              <a:rPr lang="en-US" dirty="0"/>
              <a:t>Emotion Driven Text-to-Speech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7406-DCA3-707F-C9E7-8B7484034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Emotionally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unengagive</a:t>
            </a:r>
            <a:r>
              <a:rPr lang="en-US" dirty="0"/>
              <a:t>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Listening Fatigue due to Robotic Speech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Narrative context Loss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CA550-BA94-07EC-64C3-36EE564CB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Real-time Emotional Speech Synthesis (dynamic tone, mood, pacing)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Adaptive Narration to reduce monotony &amp; fatigue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Emotionally Rich Audio Layering for immersion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89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0462-7E69-F859-B3E2-C3A8F981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 Driven Text-to-Speech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5067B0-C34B-07DA-B375-FCA38D5778D4}"/>
              </a:ext>
            </a:extLst>
          </p:cNvPr>
          <p:cNvCxnSpPr/>
          <p:nvPr/>
        </p:nvCxnSpPr>
        <p:spPr>
          <a:xfrm>
            <a:off x="6224337" y="3208421"/>
            <a:ext cx="272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267C25C-FD8A-D6D3-4BFC-54FFA1D49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877426"/>
              </p:ext>
            </p:extLst>
          </p:nvPr>
        </p:nvGraphicFramePr>
        <p:xfrm>
          <a:off x="457200" y="1825625"/>
          <a:ext cx="1072356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712">
                  <a:extLst>
                    <a:ext uri="{9D8B030D-6E8A-4147-A177-3AD203B41FA5}">
                      <a16:colId xmlns:a16="http://schemas.microsoft.com/office/drawing/2014/main" val="578990646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3839353893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2529316212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513668961"/>
                    </a:ext>
                  </a:extLst>
                </a:gridCol>
                <a:gridCol w="2144712">
                  <a:extLst>
                    <a:ext uri="{9D8B030D-6E8A-4147-A177-3AD203B41FA5}">
                      <a16:colId xmlns:a16="http://schemas.microsoft.com/office/drawing/2014/main" val="15274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</a:t>
                      </a:r>
                      <a:r>
                        <a:rPr lang="en-US" dirty="0" err="1"/>
                        <a:t>Soultion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0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Emotional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76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Narrative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2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Listening &amp;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1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Accessbility</a:t>
                      </a:r>
                      <a:r>
                        <a:rPr lang="en-US" dirty="0"/>
                        <a:t> for Children with Disabilities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91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8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B04B-F56C-530F-9C35-9F3C38D8C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Emotion Driven Text-to-Speech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717CC-20A0-179D-37DA-1F887CB1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10515600" cy="115093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Research problem</a:t>
            </a:r>
          </a:p>
          <a:p>
            <a:r>
              <a:rPr lang="en-US" dirty="0"/>
              <a:t>How can emotionally expressive Text-to-Speech be developed to create an inclusive, engaging and accessible storytelling system for the children with visual and cognitive disabilities?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B673F-2284-AF11-8DC8-F715814440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Specific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Objectivies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Predict the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Emotion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using OpenCV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Use the trained model for the right output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Emotional Output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TTS regarding to User’s Emotion.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Build an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Interactive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TTS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Ensure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Emotional Accuracy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Interactivity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74057-93F5-BEE1-2FC1-5EA942BC9E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Sub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Objectivies</a:t>
            </a:r>
            <a:r>
              <a:rPr lang="en-US" sz="2400" dirty="0"/>
              <a:t>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Predict the Emotion using OpenCV for real-time face emotion detection.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Model Training – TensorFlow &amp;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Pytorch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Provide Emotional Output TTS – Adjust pitch &amp; tone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Ensuring Emotional Accuracy with users.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9151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B3757B-122A-D8F9-7072-B3DE0E16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Emotion Driven Text-to-Speech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0011487-99CA-0F89-63C9-DFC21B10F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657386"/>
              </p:ext>
            </p:extLst>
          </p:nvPr>
        </p:nvGraphicFramePr>
        <p:xfrm>
          <a:off x="457200" y="1825624"/>
          <a:ext cx="8042670" cy="4377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890">
                  <a:extLst>
                    <a:ext uri="{9D8B030D-6E8A-4147-A177-3AD203B41FA5}">
                      <a16:colId xmlns:a16="http://schemas.microsoft.com/office/drawing/2014/main" val="3110860432"/>
                    </a:ext>
                  </a:extLst>
                </a:gridCol>
                <a:gridCol w="2680890">
                  <a:extLst>
                    <a:ext uri="{9D8B030D-6E8A-4147-A177-3AD203B41FA5}">
                      <a16:colId xmlns:a16="http://schemas.microsoft.com/office/drawing/2014/main" val="266805955"/>
                    </a:ext>
                  </a:extLst>
                </a:gridCol>
                <a:gridCol w="2680890">
                  <a:extLst>
                    <a:ext uri="{9D8B030D-6E8A-4147-A177-3AD203B41FA5}">
                      <a16:colId xmlns:a16="http://schemas.microsoft.com/office/drawing/2014/main" val="1315361689"/>
                    </a:ext>
                  </a:extLst>
                </a:gridCol>
              </a:tblGrid>
              <a:tr h="1086115">
                <a:tc>
                  <a:txBody>
                    <a:bodyPr/>
                    <a:lstStyle/>
                    <a:p>
                      <a:r>
                        <a:rPr lang="en-US" dirty="0"/>
                        <a:t>Key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Knowledge Utilized to Fabricate the Solution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Latest Technology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71635"/>
                  </a:ext>
                </a:extLst>
              </a:tr>
              <a:tr h="76028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Speech Synthesis &amp; Prosody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Knowledge of TTS,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prosody,pitch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rhythm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Natural TTS Models (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Google,ElevenLabs,FastSpeech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815993"/>
                  </a:ext>
                </a:extLst>
              </a:tr>
              <a:tr h="76028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Computer Vision &amp; Emotion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Using OpenCV and deep learning for facial emotion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Python(OpenCV)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5018"/>
                  </a:ext>
                </a:extLst>
              </a:tr>
              <a:tr h="76028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Machine Learning/ Natural Language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Applied for Understanding context, emotion in text and adapting narration accordingly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Python(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Pytorch,Tensorflow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1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66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F7-B9F3-9D1F-2073-C10752BF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Emotion Driven Text-to-Speech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9CCC2-34DD-EF30-08E3-6CB141EFC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9487"/>
            <a:ext cx="10494332" cy="30625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Evaluation 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Emotion Recognition Accuracy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Correctly identifying the child’s facial emotion (happy, sad, surprised, etc.) and Evaluate using metrics like Accuracy, Precision, Recall, F1-score, and ROC-AUC. </a:t>
            </a:r>
          </a:p>
          <a:p>
            <a:r>
              <a:rPr lang="en-US" b="1" dirty="0"/>
              <a:t>Temporal Effectiveness</a:t>
            </a:r>
            <a:r>
              <a:rPr lang="en-US" dirty="0"/>
              <a:t> – Compare model performance with and without temporal features.</a:t>
            </a:r>
          </a:p>
          <a:p>
            <a:r>
              <a:rPr lang="en-US" b="1" dirty="0"/>
              <a:t>Explainability</a:t>
            </a:r>
            <a:r>
              <a:rPr lang="en-US" dirty="0"/>
              <a:t> 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Evaluate the clarity and usefulness of emotion predictions and TTS feedback using SHAP/LIME explanations through feedback from educators and therapists</a:t>
            </a:r>
            <a:r>
              <a:rPr lang="en-US" dirty="0"/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796FB37-C6EE-D3F5-069D-935E534A16AE}"/>
              </a:ext>
            </a:extLst>
          </p:cNvPr>
          <p:cNvSpPr txBox="1">
            <a:spLocks/>
          </p:cNvSpPr>
          <p:nvPr/>
        </p:nvSpPr>
        <p:spPr>
          <a:xfrm>
            <a:off x="685799" y="4470400"/>
            <a:ext cx="10494331" cy="22206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Data Availability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 used online sources such as Kaggle and public repositories.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 planned to get data from company for my project. Together, these will give me enough data to analyze.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29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A6D1-26BB-8F80-1687-AC2105D91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3E05-FBFE-AE74-621D-9B8ABE68E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US" dirty="0"/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Borrott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N. et al. (2017).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Children’s Engagement with Expressive vs. Flat Storytelling Voices.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 Kalyan, P. et al. (2024).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Survey on Expressive and Emotional TTS for Storytelling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dirty="0"/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Hornickel, J. et al. (2017).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Speech-Processing Fatigue in Children.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[4] Alnahdi, G. (2020).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Assistive Technology in Special Education: Supporting Students with Disabilities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363892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467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Cambria</vt:lpstr>
      <vt:lpstr>Posterama</vt:lpstr>
      <vt:lpstr>SineVTI</vt:lpstr>
      <vt:lpstr>Emotion Driven Text-to-Speech</vt:lpstr>
      <vt:lpstr>Emotion Driven Text-to-Speech</vt:lpstr>
      <vt:lpstr>Emotion Driven Text-to-Speech</vt:lpstr>
      <vt:lpstr>Emotion Driven Text-to-Speech</vt:lpstr>
      <vt:lpstr>Emotion Driven Text-to-Speech</vt:lpstr>
      <vt:lpstr>Emotion Driven Text-to-Speech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Ellankovan Sentheepan</dc:creator>
  <cp:lastModifiedBy>Ellankovan Sentheepan</cp:lastModifiedBy>
  <cp:revision>25</cp:revision>
  <dcterms:created xsi:type="dcterms:W3CDTF">2025-09-08T13:35:09Z</dcterms:created>
  <dcterms:modified xsi:type="dcterms:W3CDTF">2025-09-08T16:53:30Z</dcterms:modified>
</cp:coreProperties>
</file>